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6596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0" i="0">
                <a:solidFill>
                  <a:srgbClr val="0B0B0B"/>
                </a:solidFill>
                <a:latin typeface="Calibri"/>
              </a:rPr>
              <a:t>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EDEDEC"/>
                </a:solidFill>
                <a:latin typeface="Calibri"/>
              </a:rPr>
              <a:t>BOON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958D82"/>
                </a:solidFill>
                <a:latin typeface="Calibri"/>
              </a:rPr>
              <a:t>Intervention Command Center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794760"/>
            <a:ext cx="640080" cy="508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977639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7C8E86"/>
                </a:solidFill>
                <a:latin typeface="Calibri"/>
              </a:rPr>
              <a:t>Turning Day-14 risk data into a facilitator's daily action queue — and proving the intervention actually happened.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C8E86"/>
                </a:solidFill>
                <a:latin typeface="Consolas"/>
              </a:rPr>
              <a:t>// SYSTEM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Day 14. Six days until Quiz 2.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6949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›  Only about 30% of students who need help</a:t>
            </a:r>
            <a:r>
              <a:rPr sz="1700">
                <a:solidFill>
                  <a:srgbClr val="0B0B0B"/>
                </a:solidFill>
                <a:latin typeface="Calibri"/>
              </a:rPr>
              <a:t>typically receive an intervention before the next quiz.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›  The gap isn't detection</a:t>
            </a:r>
            <a:r>
              <a:rPr sz="1700">
                <a:solidFill>
                  <a:srgbClr val="0B0B0B"/>
                </a:solidFill>
                <a:latin typeface="Calibri"/>
              </a:rPr>
              <a:t>— facilitators can already see who's struggling.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›  The real problem is deciding who needs help first, what kind, and proving it actually happened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›  before time runs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737360"/>
            <a:ext cx="3017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8100" cy="11887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810512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542032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days until Quiz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3063240"/>
            <a:ext cx="3017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3063240"/>
            <a:ext cx="38100" cy="1188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3136392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867912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students · 8 facilitators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4389120"/>
            <a:ext cx="3017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20" y="4389120"/>
            <a:ext cx="38100" cy="118872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4462272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~30%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5193792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current intervention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REAL DATA, NOT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What the numbers actually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35661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8100" cy="15544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3291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0779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students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737360"/>
            <a:ext cx="35661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38100" cy="15544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810512"/>
            <a:ext cx="3291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90779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campuses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737360"/>
            <a:ext cx="35661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38100" cy="15544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10512"/>
            <a:ext cx="3291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0779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facilitators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20440"/>
            <a:ext cx="35661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20440"/>
            <a:ext cx="38100" cy="1554480"/>
          </a:xfrm>
          <a:prstGeom prst="rect">
            <a:avLst/>
          </a:prstGeom>
          <a:solidFill>
            <a:srgbClr val="EC8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93592"/>
            <a:ext cx="3291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199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9087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below target (99.5%)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520440"/>
            <a:ext cx="35661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520440"/>
            <a:ext cx="38100" cy="155448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593592"/>
            <a:ext cx="3291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13.5%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69087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have documented</a:t>
            </a:r>
          </a:p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post-quiz contact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3520440"/>
            <a:ext cx="35661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20440"/>
            <a:ext cx="38100" cy="155448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593592"/>
            <a:ext cx="3291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57%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69087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of notes had an</a:t>
            </a:r>
          </a:p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ownership mismatch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212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98781"/>
                </a:solidFill>
                <a:latin typeface="Calibri"/>
              </a:rPr>
              <a:t>Every number in this deck is calculated from the actual dataset — nothing is hardcoded or hypothetical.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THE CORE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From raw data to a daily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34640"/>
            <a:ext cx="1417320" cy="1051560"/>
          </a:xfrm>
          <a:prstGeom prst="rect">
            <a:avLst/>
          </a:prstGeom>
          <a:solidFill>
            <a:srgbClr val="FFFFFF"/>
          </a:solidFill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063240"/>
            <a:ext cx="2057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25980" y="2834640"/>
            <a:ext cx="1417320" cy="1051560"/>
          </a:xfrm>
          <a:prstGeom prst="rect">
            <a:avLst/>
          </a:prstGeom>
          <a:solidFill>
            <a:srgbClr val="FFFFFF"/>
          </a:solidFill>
          <a:ln w="222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5980" y="2971800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3063240"/>
            <a:ext cx="2057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2834640"/>
            <a:ext cx="1417320" cy="1051560"/>
          </a:xfrm>
          <a:prstGeom prst="rect">
            <a:avLst/>
          </a:prstGeom>
          <a:solidFill>
            <a:srgbClr val="FFFFFF"/>
          </a:solidFill>
          <a:ln w="22225">
            <a:solidFill>
              <a:srgbClr val="ED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971800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PRIORITIZE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063240"/>
            <a:ext cx="2057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72100" y="2834640"/>
            <a:ext cx="1417320" cy="1051560"/>
          </a:xfrm>
          <a:prstGeom prst="rect">
            <a:avLst/>
          </a:prstGeom>
          <a:solidFill>
            <a:srgbClr val="FFFFFF"/>
          </a:solidFill>
          <a:ln w="2222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2100" y="2971800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RECOMMEND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9420" y="3063240"/>
            <a:ext cx="2057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2834640"/>
            <a:ext cx="1417320" cy="1051560"/>
          </a:xfrm>
          <a:prstGeom prst="rect">
            <a:avLst/>
          </a:prstGeom>
          <a:solidFill>
            <a:srgbClr val="FFFFFF"/>
          </a:solidFill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2971800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FACILITATOR</a:t>
            </a:r>
          </a:p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63240"/>
            <a:ext cx="2057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18220" y="2834640"/>
            <a:ext cx="1417320" cy="1051560"/>
          </a:xfrm>
          <a:prstGeom prst="rect">
            <a:avLst/>
          </a:prstGeom>
          <a:solidFill>
            <a:srgbClr val="FFFFFF"/>
          </a:solidFill>
          <a:ln w="222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8220" y="2971800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RECORD</a:t>
            </a:r>
          </a:p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5540" y="3063240"/>
            <a:ext cx="2057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0" y="2834640"/>
            <a:ext cx="1417320" cy="1051560"/>
          </a:xfrm>
          <a:prstGeom prst="rect">
            <a:avLst/>
          </a:prstGeom>
          <a:solidFill>
            <a:srgbClr val="FFFFFF"/>
          </a:solidFill>
          <a:ln w="22225">
            <a:solidFill>
              <a:srgbClr val="ED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2971800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MEASURE</a:t>
            </a:r>
          </a:p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97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›  Rules handle calculation and prioritization — fully explainable, fully testable.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›  The LLM handles language understanding and personalized communication — never the numbers.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›  Every action is tracked to a real outcome, so coverage is measured, not assumed.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One Python application, two entry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307" y="1508760"/>
            <a:ext cx="7702905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Simple by choice, not by accident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CA30C"/>
                </a:solidFill>
                <a:latin typeface="Consolas"/>
              </a:rPr>
              <a:t>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Python 3.12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Streamlit (UI)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SQLite + SQLAlchemy (data)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pandas / numpy (features)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Plotly (charts)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OpenAI SDK — works with OpenAI or Groq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python-dotenv (config)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pytest (tests)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D03B3B"/>
                </a:solidFill>
                <a:latin typeface="Consolas"/>
              </a:rPr>
              <a:t>DELIBERATELY NOT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A trained ML model — no Quiz 2 outcomes exist yet to train 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React / a separate frontend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Postgres, Kafka, Airflow, microservices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A vector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RISK &amp;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Deterministic scoring, not a black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0B0B"/>
                </a:solidFill>
                <a:latin typeface="Calibri"/>
              </a:rPr>
              <a:t>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773936"/>
            <a:ext cx="5486400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737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25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7373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898781"/>
                </a:solidFill>
                <a:latin typeface="Calibri"/>
              </a:rPr>
              <a:t>Gap between Quiz 1 score and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5915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0B0B"/>
                </a:solidFill>
                <a:latin typeface="Calibri"/>
              </a:rPr>
              <a:t>Engagement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395728"/>
            <a:ext cx="5486400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35915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25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359152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898781"/>
                </a:solidFill>
                <a:latin typeface="Calibri"/>
              </a:rPr>
              <a:t>Recent attendance &amp; practice vs. healthy levels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80944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0B0B"/>
                </a:solidFill>
                <a:latin typeface="Calibri"/>
              </a:rPr>
              <a:t>Trajectory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017520"/>
            <a:ext cx="5486400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98094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25 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980944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898781"/>
                </a:solidFill>
                <a:latin typeface="Calibri"/>
              </a:rPr>
              <a:t>Is behavior getting better, worse, or steady?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02736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0B0B"/>
                </a:solidFill>
                <a:latin typeface="Calibri"/>
              </a:rPr>
              <a:t>Trusted Note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639312"/>
            <a:ext cx="3291840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602736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15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602736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898781"/>
                </a:solidFill>
                <a:latin typeface="Calibri"/>
              </a:rPr>
              <a:t>Severity found in verified facilitator notes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245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0B0B"/>
                </a:solidFill>
                <a:latin typeface="Calibri"/>
              </a:rPr>
              <a:t>Intervention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261104"/>
            <a:ext cx="2194560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422452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10 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224528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898781"/>
                </a:solidFill>
                <a:latin typeface="Calibri"/>
              </a:rPr>
              <a:t>Any documented help since Quiz 1?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83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2514E"/>
                </a:solidFill>
                <a:latin typeface="Consolas"/>
              </a:rPr>
              <a:t>risk_score = sum of components (0-100)   •   priority_score = 0.8×risk + 0.2×urgency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532120"/>
            <a:ext cx="2651760" cy="502920"/>
          </a:xfrm>
          <a:prstGeom prst="round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53212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Critical   70-100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5532120"/>
            <a:ext cx="2651760" cy="502920"/>
          </a:xfrm>
          <a:prstGeom prst="roundRect">
            <a:avLst/>
          </a:prstGeom>
          <a:solidFill>
            <a:srgbClr val="EC8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60" y="553212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High   50-69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5532120"/>
            <a:ext cx="2651760" cy="502920"/>
          </a:xfrm>
          <a:prstGeom prst="round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553212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Medium   30-49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40" y="5532120"/>
            <a:ext cx="2651760" cy="502920"/>
          </a:xfrm>
          <a:prstGeom prst="round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553212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Low   0-29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BEHAVIORAL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13 deterministic rules, zero LLM involvement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3611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8100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429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B0B0B"/>
                </a:solidFill>
                <a:latin typeface="Consolas"/>
              </a:rPr>
              <a:t>ACUTE_ATTENDANCE_DROP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737360"/>
            <a:ext cx="3611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737360"/>
            <a:ext cx="38100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429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B0B0B"/>
                </a:solidFill>
                <a:latin typeface="Consolas"/>
              </a:rPr>
              <a:t>CHRONIC_LOW_ATTENDANCE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737360"/>
            <a:ext cx="3611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737360"/>
            <a:ext cx="38100" cy="56692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737360"/>
            <a:ext cx="3429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B0B0B"/>
                </a:solidFill>
                <a:latin typeface="Consolas"/>
              </a:rPr>
              <a:t>ATTENDING_BUT_NOT_PRACTICING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14016"/>
            <a:ext cx="3611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414016"/>
            <a:ext cx="38100" cy="566928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14016"/>
            <a:ext cx="3429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B0B0B"/>
                </a:solidFill>
                <a:latin typeface="Consolas"/>
              </a:rPr>
              <a:t>ZERO_PRACTICE_STREAK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414016"/>
            <a:ext cx="3611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2414016"/>
            <a:ext cx="38100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414016"/>
            <a:ext cx="3429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B0B0B"/>
                </a:solidFill>
                <a:latin typeface="Consolas"/>
              </a:rPr>
              <a:t>PRACTICE_COLLAPSE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414016"/>
            <a:ext cx="3611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2414016"/>
            <a:ext cx="38100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414016"/>
            <a:ext cx="3429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B0B0B"/>
                </a:solidFill>
                <a:latin typeface="Consolas"/>
              </a:rPr>
              <a:t>CRAMMING_PATTERN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90672"/>
            <a:ext cx="3611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090672"/>
            <a:ext cx="38100" cy="56692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090672"/>
            <a:ext cx="3429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B0B0B"/>
                </a:solidFill>
                <a:latin typeface="Consolas"/>
              </a:rPr>
              <a:t>RECOVERY_TRAJECTORY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090672"/>
            <a:ext cx="3611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090672"/>
            <a:ext cx="38100" cy="566928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090672"/>
            <a:ext cx="3429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B0B0B"/>
                </a:solidFill>
                <a:latin typeface="Consolas"/>
              </a:rPr>
              <a:t>STABLE_HEALTHY_BEHAVIOR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3090672"/>
            <a:ext cx="3611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1000" y="3090672"/>
            <a:ext cx="38100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090672"/>
            <a:ext cx="3429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B0B0B"/>
                </a:solidFill>
                <a:latin typeface="Consolas"/>
              </a:rPr>
              <a:t>LARGE_TARGET_GAP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767328"/>
            <a:ext cx="3611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767328"/>
            <a:ext cx="38100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767328"/>
            <a:ext cx="3429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B0B0B"/>
                </a:solidFill>
                <a:latin typeface="Consolas"/>
              </a:rPr>
              <a:t>POSSIBLE_MISSED_ASSESSMENT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60" y="3767328"/>
            <a:ext cx="3611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51960" y="3767328"/>
            <a:ext cx="38100" cy="56692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3767328"/>
            <a:ext cx="3429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B0B0B"/>
                </a:solidFill>
                <a:latin typeface="Consolas"/>
              </a:rPr>
              <a:t>NO_POST_QUIZ_INTERVENTION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767328"/>
            <a:ext cx="3611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0" y="3767328"/>
            <a:ext cx="38100" cy="566928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3767328"/>
            <a:ext cx="3429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B0B0B"/>
                </a:solidFill>
                <a:latin typeface="Consolas"/>
              </a:rPr>
              <a:t>UNRESOLVED_FOLLOW_UP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443984"/>
            <a:ext cx="3611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4443984"/>
            <a:ext cx="38100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443984"/>
            <a:ext cx="3429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0B0B0B"/>
                </a:solidFill>
                <a:latin typeface="Consolas"/>
              </a:rPr>
              <a:t>DATA_QUALITY_RISK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98781"/>
                </a:solidFill>
                <a:latin typeface="Calibri"/>
              </a:rPr>
              <a:t>Each pattern returns a plain-language explanation and the real evidence numbers behind it — never just a label.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One recommended action per 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›  Patterns + risk level map to exactly one action — PARENT_CALL, STUDENT_CHECK_IN, MOTIVATIONAL_MESSAGE, PRACTICE_PLAN, ONE_TO_ONE_TUTORING, STUDY_PLANNING,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›  ATTENDANCE_FOLLOW_UP, DATA_REVIEW, MONITOR_ONLY, POSITIVE_REINFORCEMENT.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›  Parent calls are gated to genuinely severe cases</a:t>
            </a:r>
            <a:r>
              <a:rPr sz="1600">
                <a:solidFill>
                  <a:srgbClr val="0B0B0B"/>
                </a:solidFill>
                <a:latin typeface="Calibri"/>
              </a:rPr>
              <a:t>— not every below-target student, or the queue becomes meaningless.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›  Each action carries an SLA, an effort estimate, and a plain-language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WHERE AI FITS — AND WHERE IT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Language tasks only, never 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CA30C"/>
                </a:solidFill>
                <a:latin typeface="Consolas"/>
              </a:rPr>
              <a:t>AI IS USED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Understanding facilitator notes (barrier, severity, follow-up)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Writing personalized motivational messages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Drafting parent call briefs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Writing parent report summaries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D03B3B"/>
                </a:solidFill>
                <a:latin typeface="Consolas"/>
              </a:rPr>
              <a:t>NEVER USED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Risk scoring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Attendance calculation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Priority ordering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Data validation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Intervention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846320"/>
            <a:ext cx="11155680" cy="1280160"/>
          </a:xfrm>
          <a:prstGeom prst="rect">
            <a:avLst/>
          </a:prstGeom>
          <a:solidFill>
            <a:srgbClr val="F2F1EE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0749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2514E"/>
                </a:solidFill>
                <a:latin typeface="Calibri"/>
              </a:rPr>
              <a:t>Swappable provider: OpenAI or Groq via one config value  ·  cache → call → one retry → deterministic fallback  ·  note text is always treated as data, never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THE FACILITATOR'S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"My Day" — the primary product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rk_02_my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60220"/>
            <a:ext cx="694944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›  KPIs: students, need-intervention, interaction rate, due today, overdue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›  Students grouped into status tabs — not one long list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›  Every card: why, evidence, recommended action, one-click buttons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›  A confirmation message on every action taken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STUDENT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Eight tabs, one full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rk_04_student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60220"/>
            <a:ext cx="694944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›  Overview · Trends · Peer Comparison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›  Notes (AI-analyzed, trust-checked)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›  Message (generate / edit / send)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›  Interventions · Parent Report ·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MEASURING WHAT ACTUALLY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A recommendation is not an intervention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B0B0B"/>
                </a:solidFill>
                <a:latin typeface="Calibri"/>
              </a:rPr>
              <a:t>Recommendation coverage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883664"/>
            <a:ext cx="713232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69880" y="18288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0B0B"/>
                </a:solidFill>
                <a:latin typeface="Calibri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B0B0B"/>
                </a:solidFill>
                <a:latin typeface="Calibri"/>
              </a:rPr>
              <a:t>Contact attempt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569464"/>
            <a:ext cx="4572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69880" y="25146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0B0B"/>
                </a:solidFill>
                <a:latin typeface="Calibri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004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B0B0B"/>
                </a:solidFill>
                <a:latin typeface="Calibri"/>
              </a:rPr>
              <a:t>Successful interaction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255264"/>
            <a:ext cx="4572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69880" y="32004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0B0B"/>
                </a:solidFill>
                <a:latin typeface="Calibri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B0B0B"/>
                </a:solidFill>
                <a:latin typeface="Calibri"/>
              </a:rPr>
              <a:t>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941064"/>
            <a:ext cx="5705856" cy="384048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69880" y="38862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0B0B"/>
                </a:solidFill>
                <a:latin typeface="Calibri"/>
              </a:rPr>
              <a:t>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463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A generated recommendation, or a no-answer call, never counts as success.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Only a completed, sent, or booked interaction moves the needle.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›  This is the honest baseline on Day 14 — the app exists to move it toward 80%.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SYSTEM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The Admin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rk_06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60220"/>
            <a:ext cx="694944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›  System-wide KPIs &amp; risk distribution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›  Campuses, facilitators, workload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›  Every student, add/edit in place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›  Full data-quality visibility — nothing hidden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Analyzed, adapted, not copied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›  Real computed styles extracted from motion.dev</a:t>
            </a:r>
            <a:r>
              <a:rPr sz="1600">
                <a:solidFill>
                  <a:srgbClr val="0B0B0B"/>
                </a:solidFill>
                <a:latin typeface="Calibri"/>
              </a:rPr>
              <a:t>— colors, fonts, spacing, not guesswork.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›  Warm near-black charcoal base, monospace technical labels, hairline dividers, accent-square section markers.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›  Kept our own validated blue accent</a:t>
            </a:r>
            <a:r>
              <a:rPr sz="1600">
                <a:solidFill>
                  <a:srgbClr val="0B0B0B"/>
                </a:solidFill>
                <a:latin typeface="Calibri"/>
              </a:rPr>
              <a:t>— reusing their signature yellow would collide with our own "Medium risk = yellow" status color.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›  One shared token set (src/config.py) — the live app, the exported reports, and this deck all draw from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828800" cy="82296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</a:rPr>
              <a:t>Critical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4937760"/>
            <a:ext cx="1828800" cy="822960"/>
          </a:xfrm>
          <a:prstGeom prst="rect">
            <a:avLst/>
          </a:prstGeom>
          <a:solidFill>
            <a:srgbClr val="EC8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58064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4937760"/>
            <a:ext cx="1828800" cy="82296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58064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</a:rPr>
              <a:t>Medium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937760"/>
            <a:ext cx="1828800" cy="82296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8064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</a:rPr>
              <a:t>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4937760"/>
            <a:ext cx="1828800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58064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</a:rPr>
              <a:t>Brand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32 tests, all passing in under a second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›  Validation</a:t>
            </a:r>
            <a:r>
              <a:rPr sz="1600">
                <a:solidFill>
                  <a:srgbClr val="0B0B0B"/>
                </a:solidFill>
                <a:latin typeface="Calibri"/>
              </a:rPr>
              <a:t>— missing attendance stays missing, ownership mismatches are flagged not dropped.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›  Patterns</a:t>
            </a:r>
            <a:r>
              <a:rPr sz="1600">
                <a:solidFill>
                  <a:srgbClr val="0B0B0B"/>
                </a:solidFill>
                <a:latin typeface="Calibri"/>
              </a:rPr>
              <a:t>— each rule fires (and doesn't false-fire) against hand-built scenarios.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›  Risk</a:t>
            </a:r>
            <a:r>
              <a:rPr sz="1600">
                <a:solidFill>
                  <a:srgbClr val="0B0B0B"/>
                </a:solidFill>
                <a:latin typeface="Calibri"/>
              </a:rPr>
              <a:t>— a severe dropout always outranks a stable student; score always stays in [0,100].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›  Coverage math</a:t>
            </a:r>
            <a:r>
              <a:rPr sz="1600">
                <a:solidFill>
                  <a:srgbClr val="0B0B0B"/>
                </a:solidFill>
                <a:latin typeface="Calibri"/>
              </a:rPr>
              <a:t>— a recommendation or a no-answer call never counts as success.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›  LLM</a:t>
            </a:r>
            <a:r>
              <a:rPr sz="1600">
                <a:solidFill>
                  <a:srgbClr val="0B0B0B"/>
                </a:solidFill>
                <a:latin typeface="Calibri"/>
              </a:rPr>
              <a:t>— mocked end-to-end: valid response, retry-then-succeed, fallback-after-two-failures.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›  Access control</a:t>
            </a:r>
            <a:r>
              <a:rPr sz="1600">
                <a:solidFill>
                  <a:srgbClr val="0B0B0B"/>
                </a:solidFill>
                <a:latin typeface="Calibri"/>
              </a:rPr>
              <a:t>— a facilitator's query never returns another facilitator's students.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WHAT WE DELIBERATELY 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111556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0B0B"/>
                </a:solidFill>
                <a:latin typeface="Calibri"/>
              </a:rPr>
              <a:t>1.  No trained ML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2514E"/>
                </a:solidFill>
                <a:latin typeface="Calibri"/>
              </a:rPr>
              <a:t>Quiz 2 outcome labels don't exist yet — nothing to validate a model against. An auditable rule set is more trustworthy for a facilitator acting on it today.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66160"/>
            <a:ext cx="111556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0B0B"/>
                </a:solidFill>
                <a:latin typeface="Calibri"/>
              </a:rPr>
              <a:t>2.  No uncontrolled automatic parent communication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2514E"/>
                </a:solidFill>
                <a:latin typeface="Calibri"/>
              </a:rPr>
              <a:t>57% of sample notes carried an unverified facilitator/student pairing — identity and contact data need human validation first. Every send is a facilitator-reviewed dry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onsolas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Closing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1920240" cy="1051560"/>
          </a:xfrm>
          <a:prstGeom prst="rect">
            <a:avLst/>
          </a:prstGeom>
          <a:solidFill>
            <a:srgbClr val="FFFFFF"/>
          </a:solidFill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Recommended</a:t>
            </a:r>
          </a:p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intervention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331720"/>
            <a:ext cx="3886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1780" y="2103120"/>
            <a:ext cx="1920240" cy="1051560"/>
          </a:xfrm>
          <a:prstGeom prst="rect">
            <a:avLst/>
          </a:prstGeom>
          <a:solidFill>
            <a:srgbClr val="FFFFFF"/>
          </a:solidFill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1780" y="2240280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Completed</a:t>
            </a:r>
          </a:p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intervention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2020" y="2331720"/>
            <a:ext cx="3886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103120"/>
            <a:ext cx="1920240" cy="1051560"/>
          </a:xfrm>
          <a:prstGeom prst="rect">
            <a:avLst/>
          </a:prstGeom>
          <a:solidFill>
            <a:srgbClr val="FFFFFF"/>
          </a:solidFill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240280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331720"/>
            <a:ext cx="3886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29500" y="2103120"/>
            <a:ext cx="1920240" cy="1051560"/>
          </a:xfrm>
          <a:prstGeom prst="rect">
            <a:avLst/>
          </a:prstGeom>
          <a:solidFill>
            <a:srgbClr val="FFFFFF"/>
          </a:solidFill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9500" y="2240280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Behavior</a:t>
            </a:r>
          </a:p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9740" y="2331720"/>
            <a:ext cx="3886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38360" y="2103120"/>
            <a:ext cx="1920240" cy="1051560"/>
          </a:xfrm>
          <a:prstGeom prst="rect">
            <a:avLst/>
          </a:prstGeom>
          <a:solidFill>
            <a:srgbClr val="FFFFFF"/>
          </a:solidFill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2240280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Next quiz</a:t>
            </a:r>
          </a:p>
          <a:p>
            <a:pPr algn="ctr"/>
            <a:r>
              <a:rPr sz="1300" b="1" i="0">
                <a:solidFill>
                  <a:srgbClr val="0B0B0B"/>
                </a:solidFill>
                <a:latin typeface="Calibri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49039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›  Today, the system measures whether an action was completed — not yet whether it worked.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›  Once Quiz 2 results land, each completed intervention becomes a labeled example.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›  That's exactly the training data a real predictive model would need</a:t>
            </a:r>
            <a:r>
              <a:rPr sz="1600">
                <a:solidFill>
                  <a:srgbClr val="0B0B0B"/>
                </a:solidFill>
                <a:latin typeface="Calibri"/>
              </a:rPr>
              <a:t>— and only then would training one be justified.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onsolas"/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onsolas"/>
              </a:rPr>
              <a:t>BOON ACADEMY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EDEDEC"/>
                </a:solidFill>
                <a:latin typeface="Calibr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832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958D82"/>
                </a:solidFill>
                <a:latin typeface="Calibri"/>
              </a:rPr>
              <a:t>Boon Academy Intervention Command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023360"/>
            <a:ext cx="640080" cy="508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062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C8E86"/>
                </a:solidFill>
                <a:latin typeface="Consolas"/>
              </a:rPr>
              <a:t>docs/USER_MANUAL.docx  ·  docs/CODE_DOCUMENTATION.docx  ·  docs/ARCHITECTURE_DIAGRAM.docx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