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04"/>
    <p:restoredTop sz="94637"/>
  </p:normalViewPr>
  <p:slideViewPr>
    <p:cSldViewPr snapToGrid="0" snapToObjects="1">
      <p:cViewPr varScale="1">
        <p:scale>
          <a:sx n="147" d="100"/>
          <a:sy n="147" d="100"/>
        </p:scale>
        <p:origin x="224" y="2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965960"/>
            <a:ext cx="914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0" i="0">
                <a:solidFill>
                  <a:srgbClr val="0B0B0B"/>
                </a:solidFill>
                <a:latin typeface="Calibri"/>
              </a:rPr>
              <a:t>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EDEDEC"/>
                </a:solidFill>
                <a:latin typeface="Calibri"/>
              </a:rPr>
              <a:t>BOON 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 i="0">
                <a:solidFill>
                  <a:srgbClr val="958D82"/>
                </a:solidFill>
                <a:latin typeface="Calibri"/>
              </a:rPr>
              <a:t>Intervention Command Center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3794760"/>
            <a:ext cx="640080" cy="50800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3977639"/>
            <a:ext cx="9601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7C8E86"/>
                </a:solidFill>
                <a:latin typeface="Calibri"/>
              </a:rPr>
              <a:t>Turning Day-14 risk data into a facilitator's daily action queue — and proving the intervention actually happened.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26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C8E86"/>
                </a:solidFill>
                <a:latin typeface="Consolas"/>
              </a:rPr>
              <a:t>// SYSTEM WALKTHROUGH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Day 14. Six days until Quiz 2.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737360"/>
            <a:ext cx="6949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0B0B"/>
                </a:solidFill>
                <a:latin typeface="Calibri"/>
              </a:rPr>
              <a:t>›  Only about 30% of students who need help</a:t>
            </a:r>
            <a:r>
              <a:rPr sz="1700">
                <a:solidFill>
                  <a:srgbClr val="0B0B0B"/>
                </a:solidFill>
                <a:latin typeface="Calibri"/>
              </a:rPr>
              <a:t>typically receive an intervention before the next quiz.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0B0B0B"/>
                </a:solidFill>
                <a:latin typeface="Calibri"/>
              </a:rPr>
              <a:t>›  The gap isn't detection</a:t>
            </a:r>
            <a:r>
              <a:rPr sz="1700">
                <a:solidFill>
                  <a:srgbClr val="0B0B0B"/>
                </a:solidFill>
                <a:latin typeface="Calibri"/>
              </a:rPr>
              <a:t>— facilitators can already see who's struggling.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›  The real problem is deciding who needs help first, what kind, and proving it actually happened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›  before time runs out.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0" y="1737360"/>
            <a:ext cx="30175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03920" y="1737360"/>
            <a:ext cx="38100" cy="118872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41080" y="1810512"/>
            <a:ext cx="2743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B0B0B"/>
                </a:solidFill>
                <a:latin typeface="Calibri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2542032"/>
            <a:ext cx="27432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days until Quiz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0" y="3063240"/>
            <a:ext cx="30175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503920" y="3063240"/>
            <a:ext cx="38100" cy="11887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41080" y="3136392"/>
            <a:ext cx="2743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B0B0B"/>
                </a:solidFill>
                <a:latin typeface="Calibri"/>
              </a:rPr>
              <a:t>200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3867912"/>
            <a:ext cx="27432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students · 8 facilitators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0" y="4389120"/>
            <a:ext cx="30175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503920" y="4389120"/>
            <a:ext cx="38100" cy="1188720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41080" y="4462272"/>
            <a:ext cx="2743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B0B0B"/>
                </a:solidFill>
                <a:latin typeface="Calibri"/>
              </a:rPr>
              <a:t>~30%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41080" y="5193792"/>
            <a:ext cx="27432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current intervention coverage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REAL DATA, NOT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What the numbers actually show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737360"/>
            <a:ext cx="356616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38100" cy="15544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810512"/>
            <a:ext cx="329184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B0B0B"/>
                </a:solidFill>
                <a:latin typeface="Calibri"/>
              </a:rPr>
              <a:t>200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0779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students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737360"/>
            <a:ext cx="356616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737360"/>
            <a:ext cx="38100" cy="15544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34840" y="1810512"/>
            <a:ext cx="329184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B0B0B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90779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campuses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1737360"/>
            <a:ext cx="356616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2440" y="1737360"/>
            <a:ext cx="38100" cy="15544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0" y="1810512"/>
            <a:ext cx="329184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B0B0B"/>
                </a:solidFill>
                <a:latin typeface="Calibri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90779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facilitators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20440"/>
            <a:ext cx="356616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2920" y="3520440"/>
            <a:ext cx="38100" cy="1554480"/>
          </a:xfrm>
          <a:prstGeom prst="rect">
            <a:avLst/>
          </a:prstGeom>
          <a:solidFill>
            <a:srgbClr val="EC8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3593592"/>
            <a:ext cx="329184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B0B0B"/>
                </a:solidFill>
                <a:latin typeface="Calibri"/>
              </a:rPr>
              <a:t>199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69087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below target (99.5%)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80" y="3520440"/>
            <a:ext cx="356616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297680" y="3520440"/>
            <a:ext cx="38100" cy="1554480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34840" y="3593592"/>
            <a:ext cx="329184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B0B0B"/>
                </a:solidFill>
                <a:latin typeface="Calibri"/>
              </a:rPr>
              <a:t>13.5%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69087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have documented</a:t>
            </a:r>
          </a:p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post-quiz contact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92440" y="3520440"/>
            <a:ext cx="356616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092440" y="3520440"/>
            <a:ext cx="38100" cy="155448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600" y="3593592"/>
            <a:ext cx="329184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B0B0B"/>
                </a:solidFill>
                <a:latin typeface="Calibri"/>
              </a:rPr>
              <a:t>57%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469087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of notes had an</a:t>
            </a:r>
          </a:p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ownership mismatch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212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898781"/>
                </a:solidFill>
                <a:latin typeface="Calibri"/>
              </a:rPr>
              <a:t>Every number in this deck is calculated from the actual dataset — nothing is hardcoded or hypothetical.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THE CORE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From raw data to a daily 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2834640"/>
            <a:ext cx="1417320" cy="1051560"/>
          </a:xfrm>
          <a:prstGeom prst="rect">
            <a:avLst/>
          </a:prstGeom>
          <a:solidFill>
            <a:srgbClr val="FFFFFF"/>
          </a:solidFill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2971800"/>
            <a:ext cx="1417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3063240"/>
            <a:ext cx="2057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898781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125980" y="2834640"/>
            <a:ext cx="1417320" cy="1051560"/>
          </a:xfrm>
          <a:prstGeom prst="rect">
            <a:avLst/>
          </a:prstGeom>
          <a:solidFill>
            <a:srgbClr val="FFFFFF"/>
          </a:solidFill>
          <a:ln w="22225">
            <a:solidFill>
              <a:srgbClr val="1BA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125980" y="2971800"/>
            <a:ext cx="1417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DETECT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3300" y="3063240"/>
            <a:ext cx="2057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898781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40" y="2834640"/>
            <a:ext cx="1417320" cy="1051560"/>
          </a:xfrm>
          <a:prstGeom prst="rect">
            <a:avLst/>
          </a:prstGeom>
          <a:solidFill>
            <a:srgbClr val="FFFFFF"/>
          </a:solidFill>
          <a:ln w="22225">
            <a:solidFill>
              <a:srgbClr val="EDA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49040" y="2971800"/>
            <a:ext cx="1417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PRIORITIZE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3063240"/>
            <a:ext cx="2057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898781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72100" y="2834640"/>
            <a:ext cx="1417320" cy="1051560"/>
          </a:xfrm>
          <a:prstGeom prst="rect">
            <a:avLst/>
          </a:prstGeom>
          <a:solidFill>
            <a:srgbClr val="FFFFFF"/>
          </a:solidFill>
          <a:ln w="22225">
            <a:solidFill>
              <a:srgbClr val="4A3A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72100" y="2971800"/>
            <a:ext cx="1417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89420" y="3063240"/>
            <a:ext cx="2057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898781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2834640"/>
            <a:ext cx="1417320" cy="1051560"/>
          </a:xfrm>
          <a:prstGeom prst="rect">
            <a:avLst/>
          </a:prstGeom>
          <a:solidFill>
            <a:srgbClr val="FFFFFF"/>
          </a:solidFill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995160" y="2971800"/>
            <a:ext cx="1417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FACILITATOR</a:t>
            </a:r>
          </a:p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ACTS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063240"/>
            <a:ext cx="2057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898781"/>
                </a:solidFill>
                <a:latin typeface="Calibr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18220" y="2834640"/>
            <a:ext cx="1417320" cy="1051560"/>
          </a:xfrm>
          <a:prstGeom prst="rect">
            <a:avLst/>
          </a:prstGeom>
          <a:solidFill>
            <a:srgbClr val="FFFFFF"/>
          </a:solidFill>
          <a:ln w="22225">
            <a:solidFill>
              <a:srgbClr val="1BA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18220" y="2971800"/>
            <a:ext cx="1417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RECORD</a:t>
            </a:r>
          </a:p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OUTCOME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35540" y="3063240"/>
            <a:ext cx="2057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898781"/>
                </a:solidFill>
                <a:latin typeface="Calibri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241280" y="2834640"/>
            <a:ext cx="1417320" cy="1051560"/>
          </a:xfrm>
          <a:prstGeom prst="rect">
            <a:avLst/>
          </a:prstGeom>
          <a:solidFill>
            <a:srgbClr val="FFFFFF"/>
          </a:solidFill>
          <a:ln w="22225">
            <a:solidFill>
              <a:srgbClr val="EDA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241280" y="2971800"/>
            <a:ext cx="1417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MEASURE</a:t>
            </a:r>
          </a:p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COVERAGE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2976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›  Rules handle calculation and prioritization — fully explainable, fully testable.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›  The LLM handles language understanding and personalized communication — never the numbers.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›  Every action is tracked to a real outcome, so coverage is measured, not assumed.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B0B0B"/>
                </a:solidFill>
                <a:latin typeface="Calibri"/>
              </a:rPr>
              <a:t>One Python application, two entry points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rchitecture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9307" y="1508760"/>
            <a:ext cx="7702905" cy="493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Simple by choice, not by accident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7373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CA30C"/>
                </a:solidFill>
                <a:latin typeface="Consolas"/>
              </a:rPr>
              <a:t>USED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4884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Python 3.12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Streamlit (UI)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SQLite + SQLAlchemy (data)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pandas / numpy (features)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Plotly (charts)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OpenAI SDK — works with OpenAI or Groq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python-dotenv (config)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pytest (tests)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D03B3B"/>
                </a:solidFill>
                <a:latin typeface="Consolas"/>
              </a:rPr>
              <a:t>DELIBERATELY NOT USED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4884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A trained ML model — no Quiz 2 outcomes exist yet to train on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React / a separate frontend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Postgres, Kafka, Airflow, microservices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A vector database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RISK &amp; PRIORITY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Deterministic scoring, not a black box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73736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B0B0B"/>
                </a:solidFill>
                <a:latin typeface="Calibri"/>
              </a:rPr>
              <a:t>Performance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1773936"/>
            <a:ext cx="5486400" cy="2743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66760" y="173736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2514E"/>
                </a:solidFill>
                <a:latin typeface="Calibri"/>
              </a:rPr>
              <a:t>25 pts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1737360"/>
            <a:ext cx="2651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898781"/>
                </a:solidFill>
                <a:latin typeface="Calibri"/>
              </a:rPr>
              <a:t>Gap between Quiz 1 score and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59152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B0B0B"/>
                </a:solidFill>
                <a:latin typeface="Calibri"/>
              </a:rPr>
              <a:t>Engagement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0" y="2395728"/>
            <a:ext cx="5486400" cy="2743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66760" y="2359152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2514E"/>
                </a:solidFill>
                <a:latin typeface="Calibri"/>
              </a:rPr>
              <a:t>25 pts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2359152"/>
            <a:ext cx="2651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898781"/>
                </a:solidFill>
                <a:latin typeface="Calibri"/>
              </a:rPr>
              <a:t>Recent attendance &amp; practice vs. healthy levels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980944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B0B0B"/>
                </a:solidFill>
                <a:latin typeface="Calibri"/>
              </a:rPr>
              <a:t>Trajectory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0" y="3017520"/>
            <a:ext cx="5486400" cy="2743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66760" y="2980944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2514E"/>
                </a:solidFill>
                <a:latin typeface="Calibri"/>
              </a:rPr>
              <a:t>25 pts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2980944"/>
            <a:ext cx="2651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898781"/>
                </a:solidFill>
                <a:latin typeface="Calibri"/>
              </a:rPr>
              <a:t>Is behavior getting better, worse, or steady?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602736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B0B0B"/>
                </a:solidFill>
                <a:latin typeface="Calibri"/>
              </a:rPr>
              <a:t>Trusted Note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0" y="3639312"/>
            <a:ext cx="3291840" cy="2743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66760" y="3602736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2514E"/>
                </a:solidFill>
                <a:latin typeface="Calibri"/>
              </a:rPr>
              <a:t>15 pts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3602736"/>
            <a:ext cx="2651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898781"/>
                </a:solidFill>
                <a:latin typeface="Calibri"/>
              </a:rPr>
              <a:t>Severity found in verified facilitator notes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224528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B0B0B"/>
                </a:solidFill>
                <a:latin typeface="Calibri"/>
              </a:rPr>
              <a:t>Intervention Gap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0" y="4261104"/>
            <a:ext cx="2194560" cy="2743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66760" y="4224528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2514E"/>
                </a:solidFill>
                <a:latin typeface="Calibri"/>
              </a:rPr>
              <a:t>10 pts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4224528"/>
            <a:ext cx="2651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898781"/>
                </a:solidFill>
                <a:latin typeface="Calibri"/>
              </a:rPr>
              <a:t>Any documented help since Quiz 1?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983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52514E"/>
                </a:solidFill>
                <a:latin typeface="Consolas"/>
              </a:rPr>
              <a:t>risk_score = sum of components (0-100)   •   priority_score = 0.8×risk + 0.2×urgency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532120"/>
            <a:ext cx="2651760" cy="502920"/>
          </a:xfrm>
          <a:prstGeom prst="round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5532120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Critical   70-100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37560" y="5532120"/>
            <a:ext cx="2651760" cy="502920"/>
          </a:xfrm>
          <a:prstGeom prst="roundRect">
            <a:avLst/>
          </a:prstGeom>
          <a:solidFill>
            <a:srgbClr val="EC8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337560" y="5532120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High   50-69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5532120"/>
            <a:ext cx="2651760" cy="502920"/>
          </a:xfrm>
          <a:prstGeom prst="round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172200" y="5532120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Medium   30-49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06840" y="5532120"/>
            <a:ext cx="2651760" cy="502920"/>
          </a:xfrm>
          <a:prstGeom prst="round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006840" y="5532120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Low   0-29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BEHAVIORAL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13 deterministic rules, zero LLM involvement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737360"/>
            <a:ext cx="3611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3810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3429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B0B0B"/>
                </a:solidFill>
                <a:latin typeface="Consolas"/>
              </a:rPr>
              <a:t>ACUTE_ATTENDANCE_DROP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737360"/>
            <a:ext cx="3611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251960" y="1737360"/>
            <a:ext cx="38100" cy="56692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89120" y="1737360"/>
            <a:ext cx="3429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B0B0B"/>
                </a:solidFill>
                <a:latin typeface="Consolas"/>
              </a:rPr>
              <a:t>CHRONIC_LOW_ATTENDANCE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1737360"/>
            <a:ext cx="3611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001000" y="1737360"/>
            <a:ext cx="38100" cy="56692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38160" y="1737360"/>
            <a:ext cx="3429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B0B0B"/>
                </a:solidFill>
                <a:latin typeface="Consolas"/>
              </a:rPr>
              <a:t>ATTENDING_BUT_NOT_PRACTICING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414016"/>
            <a:ext cx="3611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2920" y="2414016"/>
            <a:ext cx="38100" cy="566928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2414016"/>
            <a:ext cx="3429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B0B0B"/>
                </a:solidFill>
                <a:latin typeface="Consolas"/>
              </a:rPr>
              <a:t>ZERO_PRACTICE_STREAK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1960" y="2414016"/>
            <a:ext cx="3611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251960" y="2414016"/>
            <a:ext cx="3810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89120" y="2414016"/>
            <a:ext cx="3429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B0B0B"/>
                </a:solidFill>
                <a:latin typeface="Consolas"/>
              </a:rPr>
              <a:t>PRACTICE_COLLAPSE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2414016"/>
            <a:ext cx="3611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01000" y="2414016"/>
            <a:ext cx="38100" cy="56692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38160" y="2414016"/>
            <a:ext cx="3429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B0B0B"/>
                </a:solidFill>
                <a:latin typeface="Consolas"/>
              </a:rPr>
              <a:t>CRAMMING_PATTERN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90672"/>
            <a:ext cx="3611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02920" y="3090672"/>
            <a:ext cx="38100" cy="56692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" y="3090672"/>
            <a:ext cx="3429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B0B0B"/>
                </a:solidFill>
                <a:latin typeface="Consolas"/>
              </a:rPr>
              <a:t>RECOVERY_TRAJECTORY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51960" y="3090672"/>
            <a:ext cx="3611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251960" y="3090672"/>
            <a:ext cx="38100" cy="566928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389120" y="3090672"/>
            <a:ext cx="3429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B0B0B"/>
                </a:solidFill>
                <a:latin typeface="Consolas"/>
              </a:rPr>
              <a:t>STABLE_HEALTHY_BEHAVIOR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1000" y="3090672"/>
            <a:ext cx="3611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001000" y="3090672"/>
            <a:ext cx="3810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138160" y="3090672"/>
            <a:ext cx="3429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B0B0B"/>
                </a:solidFill>
                <a:latin typeface="Consolas"/>
              </a:rPr>
              <a:t>LARGE_TARGET_GAP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3767328"/>
            <a:ext cx="3611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502920" y="3767328"/>
            <a:ext cx="38100" cy="56692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0080" y="3767328"/>
            <a:ext cx="3429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B0B0B"/>
                </a:solidFill>
                <a:latin typeface="Consolas"/>
              </a:rPr>
              <a:t>POSSIBLE_MISSED_ASSESSMENT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51960" y="3767328"/>
            <a:ext cx="3611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251960" y="3767328"/>
            <a:ext cx="38100" cy="56692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389120" y="3767328"/>
            <a:ext cx="3429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B0B0B"/>
                </a:solidFill>
                <a:latin typeface="Consolas"/>
              </a:rPr>
              <a:t>NO_POST_QUIZ_INTERVENTION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767328"/>
            <a:ext cx="3611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001000" y="3767328"/>
            <a:ext cx="38100" cy="566928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138160" y="3767328"/>
            <a:ext cx="3429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B0B0B"/>
                </a:solidFill>
                <a:latin typeface="Consolas"/>
              </a:rPr>
              <a:t>UNRESOLVED_FOLLOW_UP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443984"/>
            <a:ext cx="3611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502920" y="4443984"/>
            <a:ext cx="3810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40080" y="4443984"/>
            <a:ext cx="3429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B0B0B"/>
                </a:solidFill>
                <a:latin typeface="Consolas"/>
              </a:rPr>
              <a:t>DATA_QUALITY_RISK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5943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898781"/>
                </a:solidFill>
                <a:latin typeface="Calibri"/>
              </a:rPr>
              <a:t>Each pattern returns a plain-language explanation and the real evidence numbers behind it — never just a label.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08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One recommended action per student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10789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›  Patterns + risk level map to exactly one action — PARENT_CALL, STUDENT_CHECK_IN, MOTIVATIONAL_MESSAGE, PRACTICE_PLAN, ONE_TO_ONE_TUTORING, STUDY_PLANNING,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›  ATTENDANCE_FOLLOW_UP, DATA_REVIEW, MONITOR_ONLY, POSITIVE_REINFORCEMENT.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B0B0B"/>
                </a:solidFill>
                <a:latin typeface="Calibri"/>
              </a:rPr>
              <a:t>›  Parent calls are gated to genuinely severe cases</a:t>
            </a:r>
            <a:r>
              <a:rPr sz="1600">
                <a:solidFill>
                  <a:srgbClr val="0B0B0B"/>
                </a:solidFill>
                <a:latin typeface="Calibri"/>
              </a:rPr>
              <a:t>— not every below-target student, or the queue becomes meaningless.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›  Each action carries an SLA, an effort estimate, and a plain-language brief.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WHERE AI FITS — AND WHERE IT DOESN'T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Language tasks only, never the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7373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CA30C"/>
                </a:solidFill>
                <a:latin typeface="Consolas"/>
              </a:rPr>
              <a:t>AI IS USED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48840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Understanding facilitator notes (barrier, severity, follow-up)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Writing personalized motivational messages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Drafting parent call briefs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Writing parent report summaries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D03B3B"/>
                </a:solidFill>
                <a:latin typeface="Consolas"/>
              </a:rPr>
              <a:t>NEVER USED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48840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Risk scoring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Attendance calculation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Priority ordering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Data validation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Intervention status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846320"/>
            <a:ext cx="11155680" cy="1280160"/>
          </a:xfrm>
          <a:prstGeom prst="rect">
            <a:avLst/>
          </a:prstGeom>
          <a:solidFill>
            <a:srgbClr val="F2F1EE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507492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52514E"/>
                </a:solidFill>
                <a:latin typeface="Calibri"/>
              </a:rPr>
              <a:t>Swappable provider: OpenAI or Groq via one config value  ·  cache → call → one retry → deterministic fallback  ·  note text is always treated as data, never instructions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THE FACILITATOR'S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B0B0B"/>
                </a:solidFill>
                <a:latin typeface="Calibri"/>
              </a:rPr>
              <a:t>"My Day" — the primary product surface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dark_02_my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60220"/>
            <a:ext cx="6949440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828800"/>
            <a:ext cx="3931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›  KPIs: students, need-intervention, interaction rate, due today, overdue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›  Students grouped into status tabs — not one long list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›  Every card: why, evidence, recommended action, one-click buttons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›  A confirmation message on every action taken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STUDENT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B0B0B"/>
                </a:solidFill>
                <a:latin typeface="Calibri"/>
              </a:rPr>
              <a:t>Eight tabs, one full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dark_04_student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60220"/>
            <a:ext cx="6949440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828800"/>
            <a:ext cx="3931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›  Overview · Trends · Peer Comparison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›  Notes (AI-analyzed, trust-checked)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›  Message (generate / edit / send)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›  Interventions · Parent Report · Timeline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MEASURING WHAT ACTUALLY HAPPENED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A recommendation is not an intervention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0B0B0B"/>
                </a:solidFill>
                <a:latin typeface="Calibri"/>
              </a:rPr>
              <a:t>Recommendation coverage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883664"/>
            <a:ext cx="7132320" cy="3840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469880" y="1828800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B0B0B"/>
                </a:solidFill>
                <a:latin typeface="Calibri"/>
              </a:rPr>
              <a:t>100%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51460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0B0B0B"/>
                </a:solidFill>
                <a:latin typeface="Calibri"/>
              </a:rPr>
              <a:t>Contact attempt rate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2569464"/>
            <a:ext cx="45720" cy="3840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469880" y="2514600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B0B0B"/>
                </a:solidFill>
                <a:latin typeface="Calibri"/>
              </a:rPr>
              <a:t>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20040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0B0B0B"/>
                </a:solidFill>
                <a:latin typeface="Calibri"/>
              </a:rPr>
              <a:t>Successful interaction 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3255264"/>
            <a:ext cx="45720" cy="3840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469880" y="3200400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B0B0B"/>
                </a:solidFill>
                <a:latin typeface="Calibri"/>
              </a:rPr>
              <a:t>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88620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0B0B0B"/>
                </a:solidFill>
                <a:latin typeface="Calibri"/>
              </a:rPr>
              <a:t>Target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3941064"/>
            <a:ext cx="5705856" cy="384048"/>
          </a:xfrm>
          <a:prstGeom prst="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469880" y="3886200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B0B0B"/>
                </a:solidFill>
                <a:latin typeface="Calibri"/>
              </a:rPr>
              <a:t>80%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84632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A generated recommendation, or a no-answer call, never counts as success.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Only a completed, sent, or booked interaction moves the needle.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This is the honest baseline on Day 14 — the app exists to move it toward 80%.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SYSTEM OVERSIGHT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B0B0B"/>
                </a:solidFill>
                <a:latin typeface="Calibri"/>
              </a:rPr>
              <a:t>The Admin 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dark_06_adm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60220"/>
            <a:ext cx="6949440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828800"/>
            <a:ext cx="3931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›  System-wide KPIs &amp; risk distribution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›  Campuses, facilitators, workload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›  Every student, add/edit in place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›  Full data-quality visibility — nothing hidden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DESIGN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Analyzed, adapted, not copied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111556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0B0B0B"/>
                </a:solidFill>
                <a:latin typeface="Calibri"/>
              </a:rPr>
              <a:t>›  Real computed styles extracted from motion.dev</a:t>
            </a:r>
            <a:r>
              <a:rPr sz="1600">
                <a:solidFill>
                  <a:srgbClr val="0B0B0B"/>
                </a:solidFill>
                <a:latin typeface="Calibri"/>
              </a:rPr>
              <a:t>— colors, fonts, spacing, not guesswork.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›  Warm near-black charcoal base, monospace technical labels, hairline dividers, accent-square section markers.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B0B0B"/>
                </a:solidFill>
                <a:latin typeface="Calibri"/>
              </a:rPr>
              <a:t>›  Kept our own validated blue accent</a:t>
            </a:r>
            <a:r>
              <a:rPr sz="1600">
                <a:solidFill>
                  <a:srgbClr val="0B0B0B"/>
                </a:solidFill>
                <a:latin typeface="Calibri"/>
              </a:rPr>
              <a:t>— reusing their signature yellow would collide with our own "Medium risk = yellow" status color.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›  One shared token set (src/config.py) — the live app, the exported reports, and this deck all draw from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4937760"/>
            <a:ext cx="1828800" cy="82296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5806440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52514E"/>
                </a:solidFill>
                <a:latin typeface="Calibri"/>
              </a:rPr>
              <a:t>Critical</a:t>
            </a:r>
          </a:p>
        </p:txBody>
      </p:sp>
      <p:sp>
        <p:nvSpPr>
          <p:cNvPr id="9" name="Rectangle 8"/>
          <p:cNvSpPr/>
          <p:nvPr/>
        </p:nvSpPr>
        <p:spPr>
          <a:xfrm>
            <a:off x="2468880" y="4937760"/>
            <a:ext cx="1828800" cy="822960"/>
          </a:xfrm>
          <a:prstGeom prst="rect">
            <a:avLst/>
          </a:prstGeom>
          <a:solidFill>
            <a:srgbClr val="EC8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468880" y="5806440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52514E"/>
                </a:solidFill>
                <a:latin typeface="Calibri"/>
              </a:rPr>
              <a:t>High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4937760"/>
            <a:ext cx="1828800" cy="822960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34840" y="5806440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52514E"/>
                </a:solidFill>
                <a:latin typeface="Calibri"/>
              </a:rPr>
              <a:t>Medium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4937760"/>
            <a:ext cx="1828800" cy="822960"/>
          </a:xfrm>
          <a:prstGeom prst="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5806440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52514E"/>
                </a:solidFill>
                <a:latin typeface="Calibri"/>
              </a:rPr>
              <a:t>Low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4937760"/>
            <a:ext cx="1828800" cy="8229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66760" y="5806440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52514E"/>
                </a:solidFill>
                <a:latin typeface="Calibri"/>
              </a:rPr>
              <a:t>Brand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32 tests, all passing in under a second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11155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0B0B0B"/>
                </a:solidFill>
                <a:latin typeface="Calibri"/>
              </a:rPr>
              <a:t>›  Validation</a:t>
            </a:r>
            <a:r>
              <a:rPr sz="1600">
                <a:solidFill>
                  <a:srgbClr val="0B0B0B"/>
                </a:solidFill>
                <a:latin typeface="Calibri"/>
              </a:rPr>
              <a:t>— missing attendance stays missing, ownership mismatches are flagged not dropped.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B0B0B"/>
                </a:solidFill>
                <a:latin typeface="Calibri"/>
              </a:rPr>
              <a:t>›  Patterns</a:t>
            </a:r>
            <a:r>
              <a:rPr sz="1600">
                <a:solidFill>
                  <a:srgbClr val="0B0B0B"/>
                </a:solidFill>
                <a:latin typeface="Calibri"/>
              </a:rPr>
              <a:t>— each rule fires (and doesn't false-fire) against hand-built scenarios.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B0B0B"/>
                </a:solidFill>
                <a:latin typeface="Calibri"/>
              </a:rPr>
              <a:t>›  Risk</a:t>
            </a:r>
            <a:r>
              <a:rPr sz="1600">
                <a:solidFill>
                  <a:srgbClr val="0B0B0B"/>
                </a:solidFill>
                <a:latin typeface="Calibri"/>
              </a:rPr>
              <a:t>— a severe dropout always outranks a stable student; score always stays in [0,100].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B0B0B"/>
                </a:solidFill>
                <a:latin typeface="Calibri"/>
              </a:rPr>
              <a:t>›  Coverage math</a:t>
            </a:r>
            <a:r>
              <a:rPr sz="1600">
                <a:solidFill>
                  <a:srgbClr val="0B0B0B"/>
                </a:solidFill>
                <a:latin typeface="Calibri"/>
              </a:rPr>
              <a:t>— a recommendation or a no-answer call never counts as success.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B0B0B"/>
                </a:solidFill>
                <a:latin typeface="Calibri"/>
              </a:rPr>
              <a:t>›  LLM</a:t>
            </a:r>
            <a:r>
              <a:rPr sz="1600">
                <a:solidFill>
                  <a:srgbClr val="0B0B0B"/>
                </a:solidFill>
                <a:latin typeface="Calibri"/>
              </a:rPr>
              <a:t>— mocked end-to-end: valid response, retry-then-succeed, fallback-after-two-failures.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B0B0B"/>
                </a:solidFill>
                <a:latin typeface="Calibri"/>
              </a:rPr>
              <a:t>›  Access control</a:t>
            </a:r>
            <a:r>
              <a:rPr sz="1600">
                <a:solidFill>
                  <a:srgbClr val="0B0B0B"/>
                </a:solidFill>
                <a:latin typeface="Calibri"/>
              </a:rPr>
              <a:t>— a facilitator's query never returns another facilitator's students.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WHAT WE DELIBERATELY CUT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And why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1115568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0B0B0B"/>
                </a:solidFill>
                <a:latin typeface="Calibri"/>
              </a:rPr>
              <a:t>1.  No trained ML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52514E"/>
                </a:solidFill>
                <a:latin typeface="Calibri"/>
              </a:rPr>
              <a:t>Quiz 2 outcome labels don't exist yet — nothing to validate a model against. An auditable rule set is more trustworthy for a facilitator acting on it today.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566160"/>
            <a:ext cx="1115568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370332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0B0B0B"/>
                </a:solidFill>
                <a:latin typeface="Calibri"/>
              </a:rPr>
              <a:t>2.  No uncontrolled automatic parent communication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1480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52514E"/>
                </a:solidFill>
                <a:latin typeface="Calibri"/>
              </a:rPr>
              <a:t>57% of sample notes carried an unverified facilitator/student pairing — identity and contact data need human validation first. Every send is a facilitator-reviewed dry run.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Closing the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2103120"/>
            <a:ext cx="1920240" cy="1051560"/>
          </a:xfrm>
          <a:prstGeom prst="rect">
            <a:avLst/>
          </a:prstGeom>
          <a:solidFill>
            <a:srgbClr val="FFFFFF"/>
          </a:solidFill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2240280"/>
            <a:ext cx="19202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Recommended</a:t>
            </a:r>
          </a:p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intervention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23160" y="2331720"/>
            <a:ext cx="388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898781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811780" y="2103120"/>
            <a:ext cx="1920240" cy="1051560"/>
          </a:xfrm>
          <a:prstGeom prst="rect">
            <a:avLst/>
          </a:prstGeom>
          <a:solidFill>
            <a:srgbClr val="FFFFFF"/>
          </a:solidFill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811780" y="2240280"/>
            <a:ext cx="19202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Completed</a:t>
            </a:r>
          </a:p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intervention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32020" y="2331720"/>
            <a:ext cx="388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898781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2103120"/>
            <a:ext cx="1920240" cy="1051560"/>
          </a:xfrm>
          <a:prstGeom prst="rect">
            <a:avLst/>
          </a:prstGeom>
          <a:solidFill>
            <a:srgbClr val="FFFFFF"/>
          </a:solidFill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20640" y="2240280"/>
            <a:ext cx="19202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Outcome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331720"/>
            <a:ext cx="388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898781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29500" y="2103120"/>
            <a:ext cx="1920240" cy="1051560"/>
          </a:xfrm>
          <a:prstGeom prst="rect">
            <a:avLst/>
          </a:prstGeom>
          <a:solidFill>
            <a:srgbClr val="FFFFFF"/>
          </a:solidFill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29500" y="2240280"/>
            <a:ext cx="19202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Behavior</a:t>
            </a:r>
          </a:p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change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9740" y="2331720"/>
            <a:ext cx="388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898781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738360" y="2103120"/>
            <a:ext cx="1920240" cy="1051560"/>
          </a:xfrm>
          <a:prstGeom prst="rect">
            <a:avLst/>
          </a:prstGeom>
          <a:solidFill>
            <a:srgbClr val="FFFFFF"/>
          </a:solidFill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738360" y="2240280"/>
            <a:ext cx="19202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Next quiz</a:t>
            </a:r>
          </a:p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result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749039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›  Today, the system measures whether an action was completed — not yet whether it worked.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›  Once Quiz 2 results land, each completed intervention becomes a labeled example.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B0B0B"/>
                </a:solidFill>
                <a:latin typeface="Calibri"/>
              </a:rPr>
              <a:t>›  That's exactly the training data a real predictive model would need</a:t>
            </a:r>
            <a:r>
              <a:rPr sz="1600">
                <a:solidFill>
                  <a:srgbClr val="0B0B0B"/>
                </a:solidFill>
                <a:latin typeface="Calibri"/>
              </a:rPr>
              <a:t>— and only then would training one be justified.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0"/>
            <a:ext cx="7315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EDEDEC"/>
                </a:solidFill>
                <a:latin typeface="Calibri"/>
              </a:rPr>
              <a:t>Thank you.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383280"/>
            <a:ext cx="8229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958D82"/>
                </a:solidFill>
                <a:latin typeface="Calibri"/>
              </a:rPr>
              <a:t>Boon Academy Intervention Command Center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94</TotalTime>
  <Words>1340</Words>
  <Application>Microsoft Macintosh PowerPoint</Application>
  <PresentationFormat>Widescreen</PresentationFormat>
  <Paragraphs>241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Ibrahim Khurfan</cp:lastModifiedBy>
  <cp:revision>2</cp:revision>
  <dcterms:created xsi:type="dcterms:W3CDTF">2013-01-27T09:14:16Z</dcterms:created>
  <dcterms:modified xsi:type="dcterms:W3CDTF">2026-07-08T22:12:48Z</dcterms:modified>
  <cp:category/>
</cp:coreProperties>
</file>